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jpg" ContentType="image/jpg"/>
  <Override PartName="/ppt/media/image5.jpg" ContentType="image/jpg"/>
  <Override PartName="/ppt/media/image7.jpg" ContentType="image/jpg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98" r:id="rId4"/>
    <p:sldId id="315" r:id="rId5"/>
    <p:sldId id="301" r:id="rId6"/>
    <p:sldId id="309" r:id="rId7"/>
    <p:sldId id="313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E7A2C0-9E35-3E54-A0FE-A1FAEC439E80}">
          <p14:sldIdLst>
            <p14:sldId id="256"/>
          </p14:sldIdLst>
        </p14:section>
        <p14:section name="과정 개요" id="{0F1B500E-A9A8-6719-5E71-9811B60A5EB3}">
          <p14:sldIdLst>
            <p14:sldId id="257"/>
          </p14:sldIdLst>
        </p14:section>
        <p14:section name="과제 결과물" id="{4CEB198B-B804-1F0B-2813-780657939951}">
          <p14:sldIdLst>
            <p14:sldId id="298"/>
            <p14:sldId id="315"/>
            <p14:sldId id="301"/>
            <p14:sldId id="309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199" autoAdjust="0"/>
  </p:normalViewPr>
  <p:slideViewPr>
    <p:cSldViewPr snapToGrid="0" snapToObjects="1">
      <p:cViewPr varScale="1">
        <p:scale>
          <a:sx n="68" d="100"/>
          <a:sy n="68" d="100"/>
        </p:scale>
        <p:origin x="14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09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25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6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13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50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909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build/im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092" y="389290"/>
            <a:ext cx="921978" cy="3607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860" y="7138611"/>
            <a:ext cx="5612042" cy="28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29C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2026 세방전지 AX 전문가 과정 결과보고  |  인사팀</a:t>
            </a:r>
            <a:endParaRPr lang="en-US" sz="8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defRPr>
            </a:lvl1pPr>
          </a:lstStyle>
          <a:p>
            <a:pPr marL="0" indent="0" algn="l">
              <a:buNone/>
            </a:pPr>
            <a:endParaRPr lang="en-US" sz="2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36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E36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21548" y="3024835"/>
            <a:ext cx="7215482" cy="90745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5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defRPr>
            </a:lvl1pPr>
          </a:lstStyle>
          <a:p>
            <a:pPr marL="0" indent="0">
              <a:buNone/>
            </a:pPr>
            <a:endParaRPr lang="en-US" sz="3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FB3B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3.mp4"/><Relationship Id="rId2" Type="http://schemas.openxmlformats.org/officeDocument/2006/relationships/video" Target="../media/media3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4.mp4"/><Relationship Id="rId2" Type="http://schemas.openxmlformats.org/officeDocument/2006/relationships/video" Target="../media/media4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0.png"/><Relationship Id="rId6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build/img/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48" y="871689"/>
            <a:ext cx="1282752" cy="5050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1548" y="2369454"/>
            <a:ext cx="6814622" cy="504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3DA"/>
                </a:solidFill>
              </a:rPr>
              <a:t>AX 전문가 과정 결과보고 | 임원 티타임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721548" y="2924007"/>
            <a:ext cx="7055138" cy="95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2026 세방전지 AX 전문가 과정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21548" y="3932286"/>
            <a:ext cx="7055138" cy="45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6DB"/>
                </a:solidFill>
              </a:rPr>
              <a:t>현업 담당자 18명이 직접 만든 업무 자동화 웹앱 18건 · 우수 과제 4건 발표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721548" y="5595945"/>
            <a:ext cx="3206881" cy="806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DB"/>
                </a:solidFill>
              </a:rPr>
              <a:t>2026. 10. 26.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D6DB"/>
                </a:solidFill>
              </a:rPr>
              <a:t>인사팀</a:t>
            </a:r>
            <a:endParaRPr lang="en-US" sz="1250" dirty="0"/>
          </a:p>
        </p:txBody>
      </p:sp>
      <p:pic>
        <p:nvPicPr>
          <p:cNvPr id="7" name="Image 1" descr="/tmp/claude-0/build/img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428" y="1773259"/>
            <a:ext cx="2565505" cy="3198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860" y="302484"/>
            <a:ext cx="7215482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1B0"/>
                </a:solidFill>
              </a:rPr>
              <a:t>Ⅰ. AX 전문가 과정 개요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AX 전문가 과정 개요</a:t>
            </a:r>
            <a:endParaRPr lang="en-US" sz="2150" dirty="0"/>
          </a:p>
        </p:txBody>
      </p:sp>
      <p:sp>
        <p:nvSpPr>
          <p:cNvPr id="4" name="Text 2"/>
          <p:cNvSpPr txBox="1"/>
          <p:nvPr/>
        </p:nvSpPr>
        <p:spPr>
          <a:xfrm>
            <a:off x="400860" y="1250265"/>
            <a:ext cx="9885211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조직 주요 과제를 AI Agent(웹앱)로 직접 해결하는 100% 현업 적용형 PBL 과정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860" y="1865315"/>
            <a:ext cx="4930579" cy="1764487"/>
          </a:xfrm>
          <a:prstGeom prst="roundRect">
            <a:avLst>
              <a:gd name="adj" fmla="val 414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61204" y="2016557"/>
            <a:ext cx="921978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F8A"/>
                </a:solidFill>
              </a:rPr>
              <a:t>과정 정의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83182" y="2016557"/>
            <a:ext cx="3727999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현업 Pain Point를 AI 에이전트로 해결하는 현업 적용형 PBL 프로젝트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1204" y="2520696"/>
            <a:ext cx="921978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F8A"/>
                </a:solidFill>
              </a:rPr>
              <a:t>교육 목표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83182" y="2520696"/>
            <a:ext cx="3727999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조직별 AX 전문 인력 양성, 우수 사례 발굴을 통한 전사 AX 역량 내재화 및 자산화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1204" y="3024835"/>
            <a:ext cx="921978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F8A"/>
                </a:solidFill>
              </a:rPr>
              <a:t>핵심 도구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83182" y="3024835"/>
            <a:ext cx="3727999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Claude Code (Team Plan 프리미엄 계정, 9/1~9/30)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91784" y="1865315"/>
            <a:ext cx="1547320" cy="1764487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636093" y="1996391"/>
            <a:ext cx="1282752" cy="28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F8A"/>
                </a:solidFill>
              </a:rPr>
              <a:t>대상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36093" y="2298875"/>
            <a:ext cx="1322838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641"/>
                </a:solidFill>
              </a:rPr>
              <a:t>9개 조직 18명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36093" y="2772766"/>
            <a:ext cx="1322838" cy="70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조직별 1~2명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전사 AI 과제 조사로 선정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19276" y="1865315"/>
            <a:ext cx="1547320" cy="1764487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263585" y="1996391"/>
            <a:ext cx="1282752" cy="28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F8A"/>
                </a:solidFill>
              </a:rPr>
              <a:t>일정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263585" y="2298875"/>
            <a:ext cx="1322838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641"/>
                </a:solidFill>
              </a:rPr>
              <a:t>7/21 ~ 10월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263585" y="2772766"/>
            <a:ext cx="1322838" cy="70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 err="1">
                <a:solidFill>
                  <a:srgbClr val="4B5563"/>
                </a:solidFill>
              </a:rPr>
              <a:t>집체교육</a:t>
            </a:r>
            <a:r>
              <a:rPr lang="en-US" sz="950" dirty="0">
                <a:solidFill>
                  <a:srgbClr val="4B5563"/>
                </a:solidFill>
              </a:rPr>
              <a:t> </a:t>
            </a:r>
            <a:br>
              <a:rPr lang="en-US" sz="950" dirty="0">
                <a:solidFill>
                  <a:srgbClr val="4B5563"/>
                </a:solidFill>
              </a:rPr>
            </a:br>
            <a:r>
              <a:rPr lang="en-US" sz="950" dirty="0">
                <a:solidFill>
                  <a:srgbClr val="4B5563"/>
                </a:solidFill>
              </a:rPr>
              <a:t>9/9(수)~9/11(금)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3일 · 20H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46768" y="1865315"/>
            <a:ext cx="1547320" cy="1764487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891077" y="1996391"/>
            <a:ext cx="1282752" cy="28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F8A"/>
                </a:solidFill>
              </a:rPr>
              <a:t>오프라인 장소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1077" y="2298875"/>
            <a:ext cx="1322838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641"/>
                </a:solidFill>
              </a:rPr>
              <a:t>안양 R&amp;D센터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891077" y="2772766"/>
            <a:ext cx="1322838" cy="70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집체교육 3일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00860" y="3831458"/>
            <a:ext cx="4008601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641"/>
                </a:solidFill>
              </a:rPr>
              <a:t>교육 프로세스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106947" y="4456591"/>
            <a:ext cx="8473038" cy="0"/>
          </a:xfrm>
          <a:prstGeom prst="line">
            <a:avLst/>
          </a:prstGeom>
          <a:noFill/>
          <a:ln w="254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30568" y="4280212"/>
            <a:ext cx="352757" cy="352757"/>
          </a:xfrm>
          <a:prstGeom prst="ellipse">
            <a:avLst/>
          </a:prstGeom>
          <a:solidFill>
            <a:srgbClr val="9AA1AC"/>
          </a:solidFill>
          <a:ln w="12700">
            <a:solidFill>
              <a:srgbClr val="9AA1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30568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0860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</a:rPr>
              <a:t>과제 조사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00860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7/21~7/28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42741" y="4280212"/>
            <a:ext cx="352757" cy="352757"/>
          </a:xfrm>
          <a:prstGeom prst="ellipse">
            <a:avLst/>
          </a:prstGeom>
          <a:solidFill>
            <a:srgbClr val="9AA1AC"/>
          </a:solidFill>
          <a:ln w="12700">
            <a:solidFill>
              <a:srgbClr val="9AA1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2342741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813033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</a:rPr>
              <a:t>대상 선정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813033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7/29~8/14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54914" y="4280212"/>
            <a:ext cx="352757" cy="352757"/>
          </a:xfrm>
          <a:prstGeom prst="ellipse">
            <a:avLst/>
          </a:prstGeom>
          <a:solidFill>
            <a:srgbClr val="00A1B0"/>
          </a:solidFill>
          <a:ln w="12700">
            <a:solidFill>
              <a:srgbClr val="00A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3754914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225206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641"/>
                </a:solidFill>
              </a:rPr>
              <a:t>온라인 사전교육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225206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8/31~9/8 · 6H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67087" y="4280212"/>
            <a:ext cx="352757" cy="352757"/>
          </a:xfrm>
          <a:prstGeom prst="ellipse">
            <a:avLst/>
          </a:prstGeom>
          <a:solidFill>
            <a:srgbClr val="00A1B0"/>
          </a:solidFill>
          <a:ln w="12700">
            <a:solidFill>
              <a:srgbClr val="00A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167087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637379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641"/>
                </a:solidFill>
              </a:rPr>
              <a:t>오프라인 집체교육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637379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9/9~9/11 · 20H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79260" y="4280212"/>
            <a:ext cx="352757" cy="352757"/>
          </a:xfrm>
          <a:prstGeom prst="ellipse">
            <a:avLst/>
          </a:prstGeom>
          <a:solidFill>
            <a:srgbClr val="00A1B0"/>
          </a:solidFill>
          <a:ln w="12700">
            <a:solidFill>
              <a:srgbClr val="00A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579260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049552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641"/>
                </a:solidFill>
              </a:rPr>
              <a:t>2주 빌드업·멘토링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049552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9/14~9/30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91433" y="4280212"/>
            <a:ext cx="352757" cy="352757"/>
          </a:xfrm>
          <a:prstGeom prst="ellipse">
            <a:avLst/>
          </a:prstGeom>
          <a:solidFill>
            <a:srgbClr val="9AA1AC"/>
          </a:solidFill>
          <a:ln w="12700">
            <a:solidFill>
              <a:srgbClr val="9AA1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991433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461725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</a:rPr>
              <a:t>내부 심의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461725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10/1~10/12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403606" y="4280212"/>
            <a:ext cx="352757" cy="352757"/>
          </a:xfrm>
          <a:prstGeom prst="ellipse">
            <a:avLst/>
          </a:prstGeom>
          <a:solidFill>
            <a:srgbClr val="9AA1AC"/>
          </a:solidFill>
          <a:ln w="12700">
            <a:solidFill>
              <a:srgbClr val="9AA1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9403606" y="4234769"/>
            <a:ext cx="352757" cy="44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873898" y="4759074"/>
            <a:ext cx="1412173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4B5563"/>
                </a:solidFill>
              </a:rPr>
              <a:t>임원</a:t>
            </a:r>
            <a:r>
              <a:rPr lang="en-US" sz="1100" b="1" dirty="0">
                <a:solidFill>
                  <a:srgbClr val="4B5563"/>
                </a:solidFill>
              </a:rPr>
              <a:t> </a:t>
            </a:r>
            <a:r>
              <a:rPr lang="en-US" sz="1100" b="1" dirty="0" err="1">
                <a:solidFill>
                  <a:srgbClr val="4B5563"/>
                </a:solidFill>
              </a:rPr>
              <a:t>보고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873898" y="5041392"/>
            <a:ext cx="1412173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29C"/>
                </a:solidFill>
              </a:rPr>
              <a:t>10/26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00860" y="5495117"/>
            <a:ext cx="2405161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641"/>
                </a:solidFill>
              </a:rPr>
              <a:t>결과 및 발표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00860" y="5868180"/>
            <a:ext cx="1880836" cy="1088941"/>
          </a:xfrm>
          <a:prstGeom prst="roundRect">
            <a:avLst>
              <a:gd name="adj" fmla="val 671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545170" y="5948843"/>
            <a:ext cx="1592216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</a:rPr>
              <a:t>개발 과제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45170" y="6200912"/>
            <a:ext cx="1592216" cy="403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F8A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18건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545170" y="6614306"/>
            <a:ext cx="1592216" cy="24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</a:rPr>
              <a:t>18명 전원 결과물 제출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401954" y="5868180"/>
            <a:ext cx="1880836" cy="1088941"/>
          </a:xfrm>
          <a:prstGeom prst="roundRect">
            <a:avLst>
              <a:gd name="adj" fmla="val 671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 txBox="1"/>
          <p:nvPr/>
        </p:nvSpPr>
        <p:spPr>
          <a:xfrm>
            <a:off x="2546263" y="5948843"/>
            <a:ext cx="1592216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</a:rPr>
              <a:t>내부 심의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2546263" y="6200912"/>
            <a:ext cx="1592216" cy="403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F8A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5개 지표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2546263" y="6614306"/>
            <a:ext cx="1592216" cy="24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50" dirty="0">
                <a:solidFill>
                  <a:srgbClr val="8A929C"/>
                </a:solidFill>
              </a:rPr>
              <a:t>중요성</a:t>
            </a:r>
            <a:r>
              <a:rPr lang="en-US" altLang="ko-KR" sz="850" dirty="0">
                <a:solidFill>
                  <a:srgbClr val="8A929C"/>
                </a:solidFill>
              </a:rPr>
              <a:t>·</a:t>
            </a:r>
            <a:r>
              <a:rPr lang="ko-KR" altLang="en-US" sz="850" dirty="0">
                <a:solidFill>
                  <a:srgbClr val="8A929C"/>
                </a:solidFill>
              </a:rPr>
              <a:t>업무빈도</a:t>
            </a:r>
            <a:r>
              <a:rPr lang="en-US" altLang="ko-KR" sz="850" dirty="0">
                <a:solidFill>
                  <a:srgbClr val="8A929C"/>
                </a:solidFill>
              </a:rPr>
              <a:t>·</a:t>
            </a:r>
            <a:r>
              <a:rPr lang="ko-KR" altLang="en-US" sz="850" dirty="0">
                <a:solidFill>
                  <a:srgbClr val="8A929C"/>
                </a:solidFill>
              </a:rPr>
              <a:t>기대효과</a:t>
            </a:r>
            <a:endParaRPr lang="en-US" altLang="ko-KR" sz="850" dirty="0">
              <a:solidFill>
                <a:srgbClr val="8A929C"/>
              </a:solidFill>
            </a:endParaRPr>
          </a:p>
          <a:p>
            <a:r>
              <a:rPr lang="en-US" altLang="ko-KR" sz="850" dirty="0">
                <a:solidFill>
                  <a:srgbClr val="8A929C"/>
                </a:solidFill>
              </a:rPr>
              <a:t>·</a:t>
            </a:r>
            <a:r>
              <a:rPr lang="ko-KR" altLang="en-US" sz="850" dirty="0">
                <a:solidFill>
                  <a:srgbClr val="8A929C"/>
                </a:solidFill>
              </a:rPr>
              <a:t>확장성</a:t>
            </a:r>
            <a:r>
              <a:rPr lang="en-US" altLang="ko-KR" sz="850" dirty="0">
                <a:solidFill>
                  <a:srgbClr val="8A929C"/>
                </a:solidFill>
              </a:rPr>
              <a:t>·</a:t>
            </a:r>
            <a:r>
              <a:rPr lang="ko-KR" altLang="en-US" sz="850" dirty="0">
                <a:solidFill>
                  <a:srgbClr val="8A929C"/>
                </a:solidFill>
              </a:rPr>
              <a:t>완성도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403048" y="5868180"/>
            <a:ext cx="1880836" cy="1088941"/>
          </a:xfrm>
          <a:prstGeom prst="roundRect">
            <a:avLst>
              <a:gd name="adj" fmla="val 671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4547357" y="5948843"/>
            <a:ext cx="1592216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</a:rPr>
              <a:t>우수 과제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4547357" y="6200912"/>
            <a:ext cx="1592216" cy="403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F8A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4건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4547357" y="6614306"/>
            <a:ext cx="1592216" cy="24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29C"/>
                </a:solidFill>
              </a:rPr>
              <a:t>13~15점 득점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04142" y="5868180"/>
            <a:ext cx="3881929" cy="1088941"/>
          </a:xfrm>
          <a:prstGeom prst="roundRect">
            <a:avLst>
              <a:gd name="adj" fmla="val 6718"/>
            </a:avLst>
          </a:prstGeom>
          <a:solidFill>
            <a:srgbClr val="1E3641"/>
          </a:solidFill>
          <a:ln w="12700">
            <a:solidFill>
              <a:srgbClr val="1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 txBox="1"/>
          <p:nvPr/>
        </p:nvSpPr>
        <p:spPr>
          <a:xfrm>
            <a:off x="6741522" y="5948843"/>
            <a:ext cx="1592216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3DA"/>
                </a:solidFill>
              </a:rPr>
              <a:t>오늘 발표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6741521" y="6200912"/>
            <a:ext cx="1804815" cy="403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우수 </a:t>
            </a:r>
            <a:r>
              <a:rPr lang="en-US" sz="1600" b="1" dirty="0" err="1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과제</a:t>
            </a:r>
            <a:r>
              <a:rPr lang="en-US" sz="160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개발자 </a:t>
            </a:r>
            <a:r>
              <a:rPr lang="en-US" sz="160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4인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6741522" y="6614306"/>
            <a:ext cx="1592216" cy="24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7CD"/>
                </a:solidFill>
              </a:rPr>
              <a:t>개발자 직접 시연</a:t>
            </a:r>
            <a:endParaRPr lang="en-US" sz="85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77" name="Image 1" descr="/tmp/claude-0/build/img/mascot.png">
            <a:extLst>
              <a:ext uri="{FF2B5EF4-FFF2-40B4-BE49-F238E27FC236}">
                <a16:creationId xmlns:a16="http://schemas.microsoft.com/office/drawing/2014/main" id="{63EDB654-23B2-49BD-AD2C-729C7F26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852" y="5769674"/>
            <a:ext cx="901288" cy="1123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860" y="302484"/>
            <a:ext cx="7215482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1B0"/>
                </a:solidFill>
              </a:rPr>
              <a:t>Ⅱ. 과제 결과물 - 총괄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과제물 18건 제출 완료</a:t>
            </a:r>
            <a:endParaRPr lang="en-US" sz="2150" dirty="0"/>
          </a:p>
        </p:txBody>
      </p:sp>
      <p:sp>
        <p:nvSpPr>
          <p:cNvPr id="4" name="Text 2"/>
          <p:cNvSpPr txBox="1"/>
          <p:nvPr/>
        </p:nvSpPr>
        <p:spPr>
          <a:xfrm>
            <a:off x="400860" y="1250265"/>
            <a:ext cx="9885211" cy="42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전 과제가 '수작업 집계·대조 → 업로드 한 번으로 자동 산출' 구조로 전환 · 음영은 오늘 발표하는 우수 과제 4건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/>
          </p:nvPr>
        </p:nvGraphicFramePr>
        <p:xfrm>
          <a:off x="400860" y="1794736"/>
          <a:ext cx="9885211" cy="5172465"/>
        </p:xfrm>
        <a:graphic>
          <a:graphicData uri="http://schemas.openxmlformats.org/drawingml/2006/table">
            <a:tbl>
              <a:tblPr/>
              <a:tblGrid>
                <a:gridCol w="336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6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15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No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조직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성명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최종 과제명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핵심 성과 (Before → After)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결과물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6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전략기획실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전략기획팀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계수경 주임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온라인 차량용 배터리 시장가격 모니터링 자동화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5시간 → 7.2분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(Render)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2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원가혁신팀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박상열 책임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재료비 로스 이상탐지 시뮬레이터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4시간 → 30분~1시간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(Vercel)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3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전략구매실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전략구매2팀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성진우 책임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설비구매 실적 집계·검증 웹앱 (ROCKET BI)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월 8시간 → 1시간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(GitHub Pages + 운영자 PC)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4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전략구매3팀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지강현 책임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철함 유사코드 자동분류 · 신규코드 사전확인 도구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유사코드 확인 30초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단일 HTML 파일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5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대표이사 직속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컴플라이언스팀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최윤호 주임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통합 대외인증 관리 시스템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월 2~3H → 0H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단일 HTML 파일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6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경영관리본부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경영지원팀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유환성 선임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전사 지식·규정 AI 검색 플랫폼 (세규)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규정 탐색 5분 이내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(Streamlit Cloud)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7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해외영업본부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유럽팀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백채원 주임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매출 실적 분석툴 (거래선별·제품군별 마진)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월 4~5시간 → 1시간 이내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단일 HTML 파일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8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OE개발팀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김바로 선임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RFQ 제조 원가 시뮬레이터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7~14일 → 1시간 이내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(Vercel)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9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국내영업본부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국내영업기획팀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김영우 책임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영업실적·손익 분석 및 보고서 자동 생성 Agent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월 12시간 → 1~2시간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(Vercel)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10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차량대리점팀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강준영 선임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프로모션 효과 시뮬레이션 에이전트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월 4~5시간 → 약 30분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소스코드 (GitHub)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11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창원공장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생산2팀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김성현 책임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AGM라인 가동율 현황판 웹앱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일 1시간 → 3분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사내 PC 서버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12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시설관리팀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서영호 주임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시설관리팀 일일 보수 관리 기록표 웹앱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계산 오류 10% → 1% 이내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HTML 5개 페이지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13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광주공장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시설관리팀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최현영 주임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설비부품 적정재고 자동 산출기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자재 1건 10분 → 30초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Claude 아티팩트 링크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14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생산1팀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김병섭 파트장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생산실적 및 부적합율 분석 앱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8시간 → 1시간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Python 앱 소스 (zip)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15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기술개발실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광주 기술혁신팀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고정의 파트장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세방전지 배터리 검색 통합 플랫폼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약 2일 → 60분 미만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사내 서버 (사내망 전용)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16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선행개발파트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정지혜 선임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선행개발 AI 플랫폼 (기술 동향·경쟁사 탐색)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약 4시간 → 5분 이내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(Vercel)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17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품질본부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창원 품질경영팀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김경준 주임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AI 포화도·용량·CCA 예측 및 원인진단 웹앱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합격 여부 95% 사전 예측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(Vercel + Render)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22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18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품질기획팀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윤원권 선임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품질비용(Q-cost) 자동 집계·분석 대시보드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B7F8A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7명 수합 → 업로드 후 수 초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B5563"/>
                          </a:solidFill>
                          <a:latin typeface="세방고딕 Regular" pitchFamily="34" charset="0"/>
                          <a:ea typeface="세방고딕 Regular" pitchFamily="34" charset="-122"/>
                          <a:cs typeface="세방고딕 Regular" pitchFamily="34" charset="-120"/>
                        </a:rPr>
                        <a:t>웹앱 (Streamlit Cloud)</a:t>
                      </a:r>
                      <a:endParaRPr lang="en-US" sz="850" dirty="0">
                        <a:latin typeface="세방고딕 Regular" charset="0"/>
                        <a:ea typeface="세방고딕 Regular" charset="0"/>
                        <a:cs typeface="세방고딕 Regular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4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860" y="302484"/>
            <a:ext cx="7215482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1B0"/>
                </a:solidFill>
              </a:rPr>
              <a:t>Ⅲ. 우수 과제 발표  01 / 04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AI 포화도·20시간 용량·CCA 예측 및 원인진단 웹앱</a:t>
            </a:r>
            <a:endParaRPr lang="en-US" sz="2150" dirty="0"/>
          </a:p>
        </p:txBody>
      </p:sp>
      <p:sp>
        <p:nvSpPr>
          <p:cNvPr id="4" name="Text 2"/>
          <p:cNvSpPr txBox="1"/>
          <p:nvPr/>
        </p:nvSpPr>
        <p:spPr>
          <a:xfrm>
            <a:off x="400860" y="1250265"/>
            <a:ext cx="8177546" cy="3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</a:rPr>
              <a:t>품질본부 창원 품질경영팀 · 김경준 주임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2630" y="1300679"/>
            <a:ext cx="1603440" cy="262152"/>
          </a:xfrm>
          <a:prstGeom prst="roundRect">
            <a:avLst>
              <a:gd name="adj" fmla="val 45345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2630" y="1300679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 상관 분석형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0860" y="1814901"/>
            <a:ext cx="6052988" cy="988113"/>
          </a:xfrm>
          <a:prstGeom prst="roundRect">
            <a:avLst>
              <a:gd name="adj" fmla="val 7403"/>
            </a:avLst>
          </a:prstGeom>
          <a:solidFill>
            <a:srgbClr val="1E3641"/>
          </a:solidFill>
          <a:ln w="12700">
            <a:solidFill>
              <a:srgbClr val="1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77239" y="1885481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3DA"/>
                </a:solidFill>
              </a:rPr>
              <a:t>핵심 성과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7239" y="2117385"/>
            <a:ext cx="5732300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합격 여부 95% 사전 예측</a:t>
            </a:r>
            <a:endParaRPr lang="en-US" sz="2150" dirty="0"/>
          </a:p>
        </p:txBody>
      </p:sp>
      <p:sp>
        <p:nvSpPr>
          <p:cNvPr id="10" name="Text 8"/>
          <p:cNvSpPr txBox="1"/>
          <p:nvPr/>
        </p:nvSpPr>
        <p:spPr>
          <a:xfrm>
            <a:off x="577239" y="2550944"/>
            <a:ext cx="5732300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7CD"/>
                </a:solidFill>
              </a:rPr>
              <a:t>처음 보는 60건 중 57건이 실제 시험 결과와 일치 (포화도 기준 · 더미 데이터)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0860" y="2954256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과제 배경 (As-Is)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0860" y="3276905"/>
            <a:ext cx="6052988" cy="72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제품 성능인 20시간 용량·저온 시동 성능(Z인자)은 시험이 끝나야 알 수 있어, 기다리는 동안에도 같은 조건의 제품이 계속 생산됨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공정·시험 데이터를 엑셀로 일일이 맞춰 보느라 어떤 조건이 원인인지 파악이 늦음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0860" y="4103693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구현 내용 (To-Be)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0860" y="4426342"/>
            <a:ext cx="6052988" cy="108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업로드 전 미리보기로 확인 후 저장, 시험 결과와 자동 매칭 → 포화도 예측 → 제품 성능(20시간 용량·저온 시동 성능) 확인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분석은 버튼 한 번, 예측이 믿을 만한지 신뢰 기준(90%)과 비교해 바로 표시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불합격 예상·미달 로트는 원인 조건 3가지를 순서대로 표시, 형명별·바이어별로 조회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조건을 바꿔 보는 시뮬레이션, 시험하지 않은 나머지 로트까지 한 번에 예측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0860" y="5616111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활용 · 확산 계획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00860" y="5938760"/>
            <a:ext cx="6052988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품질경영팀 우선 활용 → 실제 데이터로 재검증, 용량 예측 정확도 90% 이상 목표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사내 서버로 이전(외부 반출 없음) 후 정식 운영, 인접 공장으로 확대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0860" y="6604224"/>
            <a:ext cx="6052988" cy="383146"/>
          </a:xfrm>
          <a:prstGeom prst="rect">
            <a:avLst/>
          </a:prstGeom>
          <a:solidFill>
            <a:srgbClr val="E3F5F6"/>
          </a:solidFill>
          <a:ln/>
        </p:spPr>
        <p:txBody>
          <a:bodyPr wrap="square" lIns="0" tIns="1524" rIns="1524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F8A"/>
                </a:solidFill>
              </a:rPr>
              <a:t>결과물  </a:t>
            </a:r>
            <a:r>
              <a:rPr lang="en-US" sz="950" dirty="0">
                <a:solidFill>
                  <a:srgbClr val="1F2933"/>
                </a:solidFill>
              </a:rPr>
              <a:t>웹앱 (Vercel + Render)  ·  frontend-one-jet-27.vercel.app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30656" y="1804818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00" name="시연영상_1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38674" y="2064707"/>
            <a:ext cx="3447397" cy="193916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830656" y="4384751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/tmp/claude-0/build/img/p17_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674" y="4644640"/>
            <a:ext cx="3447397" cy="193916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38674" y="6873938"/>
            <a:ext cx="3447397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29C"/>
                </a:solidFill>
              </a:rPr>
              <a:t>▶ 위 화면 클릭 시 시연 영상 재생 (더미 데이터 기준)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8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0"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860" y="302484"/>
            <a:ext cx="7215482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1B0"/>
                </a:solidFill>
              </a:rPr>
              <a:t>Ⅲ. 우수 과제 발표  02 / 04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설비구매 실적 집계·검증 웹앱 (ROCKET BI · 월 마감 자동화)</a:t>
            </a:r>
            <a:endParaRPr lang="en-US" sz="2150" dirty="0"/>
          </a:p>
        </p:txBody>
      </p:sp>
      <p:sp>
        <p:nvSpPr>
          <p:cNvPr id="4" name="Text 2"/>
          <p:cNvSpPr txBox="1"/>
          <p:nvPr/>
        </p:nvSpPr>
        <p:spPr>
          <a:xfrm>
            <a:off x="400860" y="1250265"/>
            <a:ext cx="8177546" cy="3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</a:rPr>
              <a:t>전략구매실 전략구매2팀 · 성진우 책임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2630" y="1300679"/>
            <a:ext cx="1603440" cy="262152"/>
          </a:xfrm>
          <a:prstGeom prst="roundRect">
            <a:avLst>
              <a:gd name="adj" fmla="val 45345"/>
            </a:avLst>
          </a:prstGeom>
          <a:solidFill>
            <a:srgbClr val="D9A400"/>
          </a:solidFill>
          <a:ln w="12700">
            <a:solidFill>
              <a:srgbClr val="D9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2630" y="1300679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 대조 분류형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0860" y="1814901"/>
            <a:ext cx="6052988" cy="988113"/>
          </a:xfrm>
          <a:prstGeom prst="roundRect">
            <a:avLst>
              <a:gd name="adj" fmla="val 7403"/>
            </a:avLst>
          </a:prstGeom>
          <a:solidFill>
            <a:srgbClr val="1E3641"/>
          </a:solidFill>
          <a:ln w="12700">
            <a:solidFill>
              <a:srgbClr val="1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77239" y="1885481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3DA"/>
                </a:solidFill>
              </a:rPr>
              <a:t>핵심 성과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7239" y="2117385"/>
            <a:ext cx="5732300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월 8시간 → 1시간</a:t>
            </a:r>
            <a:endParaRPr lang="en-US" sz="2150" dirty="0"/>
          </a:p>
        </p:txBody>
      </p:sp>
      <p:sp>
        <p:nvSpPr>
          <p:cNvPr id="10" name="Text 8"/>
          <p:cNvSpPr txBox="1"/>
          <p:nvPr/>
        </p:nvSpPr>
        <p:spPr>
          <a:xfrm>
            <a:off x="577239" y="2550944"/>
            <a:ext cx="5732300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7CD"/>
                </a:solidFill>
              </a:rPr>
              <a:t>설비구매 실적 월 마감 소요 시간 (88% 단축)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0860" y="2954256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과제 배경 (As-Is)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0860" y="3276905"/>
            <a:ext cx="6052988" cy="72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SAP·Singlex·원가혁신팀 등 파일 8개를 매월 VLOOKUP으로 이어 붙여 담당자 1인이 집계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계약기간·지급률이 부서 간 공유되지 않아 계약 연장·대금 미지급 누락을 사후에 인지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0860" y="4103693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구현 내용 (To-Be)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0860" y="4426342"/>
            <a:ext cx="6052988" cy="108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파일 8개 드래그 시 헤더 자동 식별 → 계산·검증·확정·배포 5단계 월 마감 자동화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최신 차수·소항번 매칭·집행률 60% 게이트 자동 판정, 예외 규칙 10개로 위험 즉시 감지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자동 산출 총액이 수작업 결과와 1원까지 일치(골든 테스트), 부서별 산출물 6종 자동 생성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0860" y="5616111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활용 · 확산 계획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00860" y="5938760"/>
            <a:ext cx="6052988" cy="40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1단계 운영자 PC → 2단계 사내 서버·부서별 계정(5개 부서) → 3단계 관제센터 상시 조회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0860" y="6604224"/>
            <a:ext cx="6052988" cy="383146"/>
          </a:xfrm>
          <a:prstGeom prst="rect">
            <a:avLst/>
          </a:prstGeom>
          <a:solidFill>
            <a:srgbClr val="E3F5F6"/>
          </a:solidFill>
          <a:ln/>
        </p:spPr>
        <p:txBody>
          <a:bodyPr wrap="square" lIns="0" tIns="1524" rIns="1524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F8A"/>
                </a:solidFill>
              </a:rPr>
              <a:t>결과물  </a:t>
            </a:r>
            <a:r>
              <a:rPr lang="en-US" sz="950" dirty="0">
                <a:solidFill>
                  <a:srgbClr val="1F2933"/>
                </a:solidFill>
              </a:rPr>
              <a:t>웹앱 (GitHub Pages + 운영자 PC)  ·  2026axgbattery.github.io/rocket-app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30656" y="1804818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00" name="시연영상_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38674" y="2064707"/>
            <a:ext cx="3447397" cy="193916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830656" y="4384751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/tmp/claude-0/build/img/p3_9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674" y="4644640"/>
            <a:ext cx="3447397" cy="193916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38674" y="6873938"/>
            <a:ext cx="3447397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29C"/>
                </a:solidFill>
              </a:rPr>
              <a:t>▶ 위 화면 클릭 시 시연 영상 재생 (더미 데이터 기준)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5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0"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860" y="302484"/>
            <a:ext cx="7215482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1B0"/>
                </a:solidFill>
              </a:rPr>
              <a:t>Ⅲ. 우수 과제 발표  03 / 04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AGM라인 가동율 현황판 웹앱</a:t>
            </a:r>
            <a:endParaRPr lang="en-US" sz="2150" dirty="0"/>
          </a:p>
        </p:txBody>
      </p:sp>
      <p:sp>
        <p:nvSpPr>
          <p:cNvPr id="4" name="Text 2"/>
          <p:cNvSpPr txBox="1"/>
          <p:nvPr/>
        </p:nvSpPr>
        <p:spPr>
          <a:xfrm>
            <a:off x="400860" y="1250265"/>
            <a:ext cx="8177546" cy="3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</a:rPr>
              <a:t>창원공장 생산2팀 · 김성현 책임</a:t>
            </a:r>
            <a:r>
              <a:rPr lang="en-US" sz="950" dirty="0">
                <a:solidFill>
                  <a:srgbClr val="8A929C"/>
                </a:solidFill>
              </a:rPr>
              <a:t>   |   입과 시 과제명: 생산성분석 AI (투입공수 대비)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2630" y="1300679"/>
            <a:ext cx="1603440" cy="262152"/>
          </a:xfrm>
          <a:prstGeom prst="roundRect">
            <a:avLst>
              <a:gd name="adj" fmla="val 453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2630" y="1300679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 실적지표 분석형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0860" y="1814901"/>
            <a:ext cx="6052988" cy="988113"/>
          </a:xfrm>
          <a:prstGeom prst="roundRect">
            <a:avLst>
              <a:gd name="adj" fmla="val 7403"/>
            </a:avLst>
          </a:prstGeom>
          <a:solidFill>
            <a:srgbClr val="1E3641"/>
          </a:solidFill>
          <a:ln w="12700">
            <a:solidFill>
              <a:srgbClr val="1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77239" y="1885481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3DA"/>
                </a:solidFill>
              </a:rPr>
              <a:t>핵심 성과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7239" y="2117385"/>
            <a:ext cx="5732300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일 1시간 → 3분</a:t>
            </a:r>
            <a:endParaRPr lang="en-US" sz="2150" dirty="0"/>
          </a:p>
        </p:txBody>
      </p:sp>
      <p:sp>
        <p:nvSpPr>
          <p:cNvPr id="10" name="Text 8"/>
          <p:cNvSpPr txBox="1"/>
          <p:nvPr/>
        </p:nvSpPr>
        <p:spPr>
          <a:xfrm>
            <a:off x="577239" y="2550944"/>
            <a:ext cx="5732300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7CD"/>
                </a:solidFill>
              </a:rPr>
              <a:t>데이터 다운로드·집계 분석 시간 (92% 단축)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0860" y="2954256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과제 배경 (As-Is)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0860" y="3276905"/>
            <a:ext cx="6052988" cy="72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SMES 공정 구분(EBGC)으로는 AGM 6개 라인별 실제 가동율 확인이 불가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공수·부동 자료를 내려받아 엑셀로 환산·차트화하는 수작업으로 개선 조치 지연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0860" y="4103693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구현 내용 (To-Be)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0860" y="4426342"/>
            <a:ext cx="6052988" cy="108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파이썬 PC 자동제어로 SMES 공수·부동 데이터를 매일 자동 다운로드·업로드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라인별 가동율·6대 부동·부동 원인 파레토를 일·기간·월별 현황판으로 제공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월 보고 시 확인 → 전일 데이터 기준 매일 확인 가능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0860" y="5616111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활용 · 확산 계획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00860" y="5938760"/>
            <a:ext cx="6052988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팀 내 AGM라인 우선 적용 → 파트·팀·공장 단위 가시화 대시보드로 확대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최종 목표: 10분 단위 실시간 확인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0860" y="6604224"/>
            <a:ext cx="6052988" cy="383146"/>
          </a:xfrm>
          <a:prstGeom prst="rect">
            <a:avLst/>
          </a:prstGeom>
          <a:solidFill>
            <a:srgbClr val="E3F5F6"/>
          </a:solidFill>
          <a:ln/>
        </p:spPr>
        <p:txBody>
          <a:bodyPr wrap="square" lIns="0" tIns="1524" rIns="1524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F8A"/>
                </a:solidFill>
              </a:rPr>
              <a:t>결과물  </a:t>
            </a:r>
            <a:r>
              <a:rPr lang="en-US" sz="950" dirty="0">
                <a:solidFill>
                  <a:srgbClr val="1F2933"/>
                </a:solidFill>
              </a:rPr>
              <a:t>사내 PC 서버  ·  lineperf.duckdns.org:3000 (PC 가동 시 접속)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30656" y="1804818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00" name="시연영상_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38674" y="2064707"/>
            <a:ext cx="3447397" cy="193916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830656" y="4384751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/tmp/claude-0/build/img/p11_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674" y="4644640"/>
            <a:ext cx="3447397" cy="193916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38674" y="6873938"/>
            <a:ext cx="3447397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29C"/>
                </a:solidFill>
              </a:rPr>
              <a:t>▶ 위 화면 클릭 시 시연 영상 재생 (더미 데이터 기준)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4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0"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860" y="302484"/>
            <a:ext cx="7215482" cy="30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1B0"/>
                </a:solidFill>
              </a:rPr>
              <a:t>Ⅲ. 우수 과제 발표  04 / 04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00860" y="604967"/>
            <a:ext cx="8738751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E3641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세방전지 배터리 검색 통합 플랫폼</a:t>
            </a:r>
            <a:endParaRPr lang="en-US" sz="2150" dirty="0"/>
          </a:p>
        </p:txBody>
      </p:sp>
      <p:sp>
        <p:nvSpPr>
          <p:cNvPr id="4" name="Text 2"/>
          <p:cNvSpPr txBox="1"/>
          <p:nvPr/>
        </p:nvSpPr>
        <p:spPr>
          <a:xfrm>
            <a:off x="400860" y="1250265"/>
            <a:ext cx="8177546" cy="36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</a:rPr>
              <a:t>기술개발실 광주 기술혁신팀 · 고정의 파트장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2630" y="1300679"/>
            <a:ext cx="1603440" cy="262152"/>
          </a:xfrm>
          <a:prstGeom prst="roundRect">
            <a:avLst>
              <a:gd name="adj" fmla="val 45345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2630" y="1300679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 문서 검색 탐색형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0860" y="1814901"/>
            <a:ext cx="6052988" cy="988113"/>
          </a:xfrm>
          <a:prstGeom prst="roundRect">
            <a:avLst>
              <a:gd name="adj" fmla="val 7403"/>
            </a:avLst>
          </a:prstGeom>
          <a:solidFill>
            <a:srgbClr val="1E3641"/>
          </a:solidFill>
          <a:ln w="12700">
            <a:solidFill>
              <a:srgbClr val="1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77239" y="1885481"/>
            <a:ext cx="1603440" cy="2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D3DA"/>
                </a:solidFill>
              </a:rPr>
              <a:t>핵심 성과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7239" y="2117385"/>
            <a:ext cx="5732300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FFFFF"/>
                </a:solidFill>
                <a:latin typeface="세방고딕 Regular" pitchFamily="34" charset="0"/>
                <a:ea typeface="세방고딕 Regular" pitchFamily="34" charset="-122"/>
                <a:cs typeface="세방고딕 Regular" pitchFamily="34" charset="-120"/>
              </a:rPr>
              <a:t>약 2일 → 60분 미만</a:t>
            </a:r>
            <a:endParaRPr lang="en-US" sz="2150" dirty="0"/>
          </a:p>
        </p:txBody>
      </p:sp>
      <p:sp>
        <p:nvSpPr>
          <p:cNvPr id="10" name="Text 8"/>
          <p:cNvSpPr txBox="1"/>
          <p:nvPr/>
        </p:nvSpPr>
        <p:spPr>
          <a:xfrm>
            <a:off x="577239" y="2550944"/>
            <a:ext cx="5732300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7CD"/>
                </a:solidFill>
              </a:rPr>
              <a:t>RFQ 100건 1·2·3안 매칭 (매칭 계산 0.14초 실측)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0860" y="2954256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과제 배경 (As-Is)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0860" y="3276905"/>
            <a:ext cx="6052988" cy="72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제품 약 6,000종의 BOM·성능·도면·원가·적재 정보가 흩어져 수작업 대조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바이어 문의 1건에 메일 2~3회 왕복, RFQ 100건 회신에 3명이 2일 소요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00860" y="4103693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구현 내용 (To-Be)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00860" y="4426342"/>
            <a:ext cx="6052988" cy="108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규격 한 줄 검색 → 제품 상세(성능·납중량·실측 3D·라벨) 조회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RFQ 엑셀 업로드 → 1·2·3안 AI 매칭, 20·40ft 3D 적재 시뮬레이션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제품 6,333종·도면 732장·3D 136종 수록, 제품↔도면 자동 매칭 122,237건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0860" y="5616111"/>
            <a:ext cx="6052988" cy="322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F8A"/>
                </a:solidFill>
              </a:rPr>
              <a:t>활용 · 확산 계획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00860" y="5938760"/>
            <a:ext cx="6052988" cy="62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사내망 단일 주소로 영업·개발·생산·물류·기획 전 부서 공개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</a:rPr>
              <a:t>BOM·성능DB 갱신 시 야간 자동 재빌드, 가이드·튜토리얼로 교육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0860" y="6604224"/>
            <a:ext cx="6052988" cy="383146"/>
          </a:xfrm>
          <a:prstGeom prst="rect">
            <a:avLst/>
          </a:prstGeom>
          <a:solidFill>
            <a:srgbClr val="E3F5F6"/>
          </a:solidFill>
          <a:ln/>
        </p:spPr>
        <p:txBody>
          <a:bodyPr wrap="square" lIns="0" tIns="1524" rIns="1524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F8A"/>
                </a:solidFill>
              </a:rPr>
              <a:t>결과물  </a:t>
            </a:r>
            <a:r>
              <a:rPr lang="en-US" sz="950" dirty="0">
                <a:solidFill>
                  <a:srgbClr val="1F2933"/>
                </a:solidFill>
              </a:rPr>
              <a:t>사내 서버 (사내망 전용)  ·  10.10.162.168:8080/site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30656" y="1804818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00" name="시연영상_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38674" y="2064707"/>
            <a:ext cx="3447397" cy="1939161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830656" y="4384751"/>
            <a:ext cx="3463431" cy="245893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/tmp/claude-0/build/img/p15_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8674" y="4644640"/>
            <a:ext cx="3447397" cy="193916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38674" y="6873938"/>
            <a:ext cx="3447397" cy="221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29C"/>
                </a:solidFill>
              </a:rPr>
              <a:t>▶ 위 화면 클릭 시 시연 영상 재생 (더미 데이터 기준)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85211" y="7138611"/>
            <a:ext cx="400860" cy="28231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29C"/>
                </a:solidFill>
                <a:latin typeface="세방고딕 Regular"/>
                <a:ea typeface="세방고딕 Regular"/>
                <a:cs typeface="세방고딕 Regula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0"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세방고딕 Regular"/>
        <a:ea typeface="세방고딕 Regular"/>
        <a:cs typeface=""/>
        <a:font script="Jpan" typeface="游ゴシック Light"/>
        <a:font script="Hang" typeface="세방고딕 Regular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세방고딕 Regular"/>
        <a:ea typeface="세방고딕 Regular"/>
        <a:cs typeface=""/>
        <a:font script="Jpan" typeface="游ゴシック"/>
        <a:font script="Hang" typeface="세방고딕 Regula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1489</Words>
  <Application>Microsoft Office PowerPoint</Application>
  <PresentationFormat>사용자 지정</PresentationFormat>
  <Paragraphs>277</Paragraphs>
  <Slides>7</Slides>
  <Notes>7</Notes>
  <HiddenSlides>0</HiddenSlides>
  <MMClips>4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세방고딕 Regular</vt:lpstr>
      <vt:lpstr>Arial</vt:lpstr>
      <vt:lpstr>Office Theme</vt:lpstr>
      <vt:lpstr>PowerPoint 프레젠테이션</vt:lpstr>
      <vt:lpstr>AX 전문가 과정 개요</vt:lpstr>
      <vt:lpstr>과제물 18건 제출 완료</vt:lpstr>
      <vt:lpstr>AI 포화도·20시간 용량·CCA 예측 및 원인진단 웹앱</vt:lpstr>
      <vt:lpstr>설비구매 실적 집계·검증 웹앱 (ROCKET BI · 월 마감 자동화)</vt:lpstr>
      <vt:lpstr>AGM라인 가동율 현황판 웹앱</vt:lpstr>
      <vt:lpstr>세방전지 배터리 검색 통합 플랫폼</vt:lpstr>
    </vt:vector>
  </TitlesOfParts>
  <Company>세방전지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세방전지 AX 전문가 과정 결과보고</dc:title>
  <dc:subject>PptxGenJS Presentation</dc:subject>
  <dc:creator>세방전지 인사팀</dc:creator>
  <cp:lastModifiedBy>정혜원/주임/세방전지</cp:lastModifiedBy>
  <cp:revision>13</cp:revision>
  <dcterms:created xsi:type="dcterms:W3CDTF">2026-10-12T10:53:04Z</dcterms:created>
  <dcterms:modified xsi:type="dcterms:W3CDTF">2026-10-15T05:29:00Z</dcterms:modified>
</cp:coreProperties>
</file>
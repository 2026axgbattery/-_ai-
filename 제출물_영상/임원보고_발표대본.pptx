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70" r:id="rId12"/>
    <p:sldId id="260" r:id="rId6"/>
    <p:sldId id="261" r:id="rId7"/>
    <p:sldId id="262" r:id="rId8"/>
    <p:sldId id="269" r:id="rId20"/>
    <p:sldId id="263" r:id="rId9"/>
    <p:sldId id="264" r:id="rId10"/>
    <p:sldId id="265" r:id="rId11"/>
    <p:sldId id="267" r:id="rId13"/>
    <p:sldId id="268" r:id="rId14"/>
    <p:sldId id="271" r:id="rId21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6.xml"/><Relationship Id="rId7" Type="http://schemas.openxmlformats.org/officeDocument/2006/relationships/slide" Target="slides/slide7.xml"/><Relationship Id="rId8" Type="http://schemas.openxmlformats.org/officeDocument/2006/relationships/slide" Target="slides/slide8.xml"/><Relationship Id="rId9" Type="http://schemas.openxmlformats.org/officeDocument/2006/relationships/slide" Target="slides/slide10.xml"/><Relationship Id="rId10" Type="http://schemas.openxmlformats.org/officeDocument/2006/relationships/slide" Target="slides/slide11.xml"/><Relationship Id="rId11" Type="http://schemas.openxmlformats.org/officeDocument/2006/relationships/slide" Target="slides/slide12.xml"/><Relationship Id="rId12" Type="http://schemas.openxmlformats.org/officeDocument/2006/relationships/slide" Target="slides/slide5.xml"/><Relationship Id="rId13" Type="http://schemas.openxmlformats.org/officeDocument/2006/relationships/slide" Target="slides/slide13.xml"/><Relationship Id="rId14" Type="http://schemas.openxmlformats.org/officeDocument/2006/relationships/slide" Target="slides/slide14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9.xml"/><Relationship Id="rId21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5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-13-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42C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502920"/>
            <a:ext cx="1463040" cy="312928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548640" y="89611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A2AA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120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21488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0097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548640" y="2560320"/>
            <a:ext cx="10607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전에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합격 여부를 미리 맞힌다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420624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D0D0C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SPC 공정 데이터를 올리면 사람 작업 없이 포화도와 제품 성능(20시간 용량·저온 시동 성능)을 자동으로 예측하는 프로그램. 아래 숫자는 더미(연습용) 데이터 기준 채점 결과다.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4983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333F48"/>
          </a:solidFill>
          <a:ln w="6350">
            <a:solidFill>
              <a:srgbClr val="A2AAAD"/>
            </a:solidFill>
            <a:prstDash val="solid"/>
          </a:ln>
        </p:spPr>
        <p:txBody>
          <a:bodyPr/>
          <a:p/>
        </p:txBody>
      </p:sp>
      <p:sp>
        <p:nvSpPr>
          <p:cNvPr id="8" name="Text 5"/>
          <p:cNvSpPr txBox="1"/>
          <p:nvPr/>
        </p:nvSpPr>
        <p:spPr>
          <a:xfrm>
            <a:off x="73152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7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95%</a:t>
            </a:r>
            <a:endParaRPr lang="en-US" sz="2400" dirty="0"/>
          </a:p>
        </p:txBody>
      </p:sp>
      <p:sp>
        <p:nvSpPr>
          <p:cNvPr id="9" name="Text 6"/>
          <p:cNvSpPr txBox="1"/>
          <p:nvPr/>
        </p:nvSpPr>
        <p:spPr>
          <a:xfrm>
            <a:off x="731520" y="5532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포화도 합격/불합격 일치 (57/60)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3204210" y="4983480"/>
            <a:ext cx="2377440" cy="960120"/>
          </a:xfrm>
          <a:prstGeom prst="roundRect">
            <a:avLst>
              <a:gd name="adj" fmla="val 7619"/>
            </a:avLst>
          </a:prstGeom>
          <a:solidFill>
            <a:srgbClr val="333F48"/>
          </a:solidFill>
          <a:ln w="6350">
            <a:solidFill>
              <a:srgbClr val="A2AAAD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3387090" y="5029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97A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90% 이상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3387090" y="5532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D0D0C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저온 시동 성능 2종 (27/30 · 28/30)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548640" y="6053328"/>
            <a:ext cx="10972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A2AA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발표자  창원품질경영팀 김경준 주임        구성  직접 발표 + 영상(약 3분 22초)        일자  2026-10-22</a:t>
            </a: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pPr indent="0" marL="0">
              <a:buNone/>
            </a:pP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dirty="0">
                <a:solidFill>
                  <a:srgbClr val="A2AAAD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 / 15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 순서와 시간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→ 영상(용어 설명 + 본편) → 직접 발표, 합계 약 4분 40초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2834640"/>
            <a:ext cx="10545775" cy="0"/>
          </a:xfrm>
          <a:prstGeom prst="line">
            <a:avLst/>
          </a:prstGeom>
          <a:noFill/>
          <a:ln w="25400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Shape 6"/>
          <p:cNvSpPr/>
          <p:nvPr/>
        </p:nvSpPr>
        <p:spPr>
          <a:xfrm>
            <a:off x="667512" y="26791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 txBox="1"/>
          <p:nvPr/>
        </p:nvSpPr>
        <p:spPr>
          <a:xfrm>
            <a:off x="-36576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0:00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-36576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오프닝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-365760" y="354787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15초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867512" y="26791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14" name="Text 11"/>
          <p:cNvSpPr txBox="1"/>
          <p:nvPr/>
        </p:nvSpPr>
        <p:spPr>
          <a:xfrm>
            <a:off x="28342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0:15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283424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현재와 개선, 만든 과정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2834240" y="354787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45초 · As-Is → To-Be → 만든 3단계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7067512" y="2679192"/>
            <a:ext cx="310896" cy="310896"/>
          </a:xfrm>
          <a:prstGeom prst="ellipse">
            <a:avLst/>
          </a:prstGeom>
          <a:solidFill>
            <a:srgbClr val="006A76"/>
          </a:solidFill>
          <a:ln w="19050">
            <a:solidFill>
              <a:srgbClr val="006A76"/>
            </a:solidFill>
            <a:prstDash val="solid"/>
          </a:ln>
        </p:spPr>
        <p:txBody>
          <a:bodyPr/>
          <a:p/>
        </p:txBody>
      </p:sp>
      <p:sp>
        <p:nvSpPr>
          <p:cNvPr id="18" name="Text 15"/>
          <p:cNvSpPr txBox="1"/>
          <p:nvPr/>
        </p:nvSpPr>
        <p:spPr>
          <a:xfrm>
            <a:off x="60342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1:00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603424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재생</a:t>
            </a:r>
            <a:endParaRPr lang="en-US" sz="1250" dirty="0"/>
          </a:p>
        </p:txBody>
      </p:sp>
      <p:sp>
        <p:nvSpPr>
          <p:cNvPr id="20" name="Text 17"/>
          <p:cNvSpPr txBox="1"/>
          <p:nvPr/>
        </p:nvSpPr>
        <p:spPr>
          <a:xfrm>
            <a:off x="6034240" y="354787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용어 설명(그림·3D) 약 45초 + 설계 · 95% · 시연 · 추가 기능 · 확장 예측 · 정리 2분 37초 = 3분 22초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10267512" y="2679192"/>
            <a:ext cx="310896" cy="310896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22" name="Text 19"/>
          <p:cNvSpPr txBox="1"/>
          <p:nvPr/>
        </p:nvSpPr>
        <p:spPr>
          <a:xfrm>
            <a:off x="9234240" y="2148840"/>
            <a:ext cx="2377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4:22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9234240" y="315468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앞으로·마무리</a:t>
            </a:r>
            <a:endParaRPr lang="en-US" sz="1250" dirty="0"/>
          </a:p>
        </p:txBody>
      </p:sp>
      <p:sp>
        <p:nvSpPr>
          <p:cNvPr id="24" name="Text 21"/>
          <p:cNvSpPr txBox="1"/>
          <p:nvPr/>
        </p:nvSpPr>
        <p:spPr>
          <a:xfrm>
            <a:off x="9234240" y="3547872"/>
            <a:ext cx="23774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15초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 오프닝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결론부터 — 시험 전에 합격 여부를 95% 맞힌다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500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· 1/2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앞부분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50077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안녕하세요, 창원품질경영팀 김경준입니다. 시험 결과를 시험하기 전에 미리 맞히는 프로그램을 소개합니다.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33008" y="1664208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34176" y="1847088"/>
            <a:ext cx="500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· 2/2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434176" y="2103120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끝부분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34176" y="2724912"/>
            <a:ext cx="50077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합격인지 불합격인지를 95% 맞혔고, 어떻게 만들었고 어떤 결과가 나왔는지 보여드리겠습니다.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타이틀 카드 + "95%"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2. 현재(As-Is)와 개선(To-Be), 만든 과정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SPC로 데이터는 들어오지만 사람이 직접 분석해 오래 걸린다 → 올리기만 하면 포화도부터 제품 성능까지 확인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500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· 1/2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현재 (As-Is)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50077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 공장에서는 SPC로 공정 데이터가 계속 들어오지만, 이를 사람이 직접 분석해야 해서 시간이 많이 걸립니다. 게다가 20시간 용량과 저온 시동 성능은 시험이 끝나야 알 수 있어, 미달이 나올 때는 같은 조건의 제품이 이미 많이 만들어진 뒤입니다.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33008" y="1664208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34176" y="1847088"/>
            <a:ext cx="500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· 2/2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434176" y="2103120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개선 (To-Be) · 만든 과정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34176" y="2724912"/>
            <a:ext cx="50077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데이터를 올리기만 하면 포화도부터 제품 성능까지 확인하는 프로그램을 만들었습니다. 만든 순서는 세 단계입니다. 공정 데이터와 시험 결과를 로트 번호로 잇고, 조건이 포화도와 성능에 주는 영향을 계산하고, 처음 보는 데이터로 검증했습니다. 먼저 영상에서 용어부터 짚겠습니다.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As-Is(SPC → 수기 분석, 시간 소요) vs To-Be(업로드 → 자동 분석) 비교 도식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2-2. 영상 앞부분: 용어 설명 (그림·3D)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처음 듣는 임원도 이해하도록 AGM 배터리 · 포화도(왜 중요한지까지) · 20시간 용량 · 저온 시동 성능을 그림으로 먼저 설명한다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1/3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AGM 배터리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먼저, 오늘 나오는 용어를 쉽게 짚고 가겠습니다. AGM 배터리는 유리 섬유 판이 전해액을 스펀지처럼 머금고 있는 배터리입니다.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38218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39386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2/3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39386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포화도 · 20시간 용량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39386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포화도는 이 유리 섬유 판에 전해액이 얼마나 가득 찼는지를 나타내는 비율입니다. 전해액이 부족하면 전기가 흐르는 길이 줄어서, 용량도 저온 시동 성능도 떨어질 수 있습니다. 그래서 포화도는 시험 전에 제품 성능을 미리 가늠하는, 가장 중요한 중간 지표입니다. 20시간 용량은 20시간에 걸쳐 일정하게 꺼내 쓸 수 있는 전기의 양입니다.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27797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328965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3/3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328965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저온 시동 성능 (CCA)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8965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저온 시동 성능, CCA는 영하 18도의 추위에서 시동을 거는 힘입니다.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AGM 3D 단면 → 스펀지에 전해액이 차오르는 포화도(가득/부족 비교, 성능 막대) → 20시간 방전 링 → 영하 18℃ 눈·시동 힘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3. 어떻게 만들었나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업로드만 하면 사람 작업 없이 포화도 예측 → 제품 성능 확인이 자동으로 이어진다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1/3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앞부분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방법은 단순합니다. SPC에 입력되어 관리되는 공정 데이터를 올리기만 하면, 사람이 계산하지 않아도 자동으로 예측이 이어집니다.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38218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39386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2/3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39386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39386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먼저 전해액이 얼마나 잘 채워졌는지, 즉 포화도를 예측합니다.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27797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328965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3/3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328965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끝부분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8965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 결과로 20시간 용량과 저온 시동 성능, 즉 제품의 성능을 확인합니다.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SPC 공정 데이터 업로드 → 포화도 → 제품 성능 도식(클릭 한 번·자동)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 95%는 어떻게 쟀나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외운 문제가 아니라 처음 보는 60건으로 채점했다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1/3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앞부분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그럼 95%는 어떻게 쟀을까요. 시험을 마친 제품 300건 가운데 240건으로 프로그램을 가르쳤습니다. 그리고 한 번도 보여주지 않은 60건으로 시험을 쳤습니다. 외운 문제를 다시 푸는 것이 아니라, 처음 보는 문제를 푸는 방식입니다.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38218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39386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2/3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39386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39386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채점 기준은 점수 차이가 아니라, 합격인지 불합격인지가 실제와 같은가입니다. 60건 중 57건이 맞았고, 이것이 95%입니다.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27797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328965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3/3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328965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끝부분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8965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저희는 90%를 넘으면 믿을 만하다고 기준을 정했는데, 포화도는 이 기준을 넘었습니다. 저온 시동 성능 두 가지도 90%와 93%로 기준을 충족했습니다.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240건/60건 분할 도식 → 57/60 카운트업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5. 화면 시연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조건을 바꾸면 결과가 바로 다시 계산된다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500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1/2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앞부분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50077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화면으로 보겠습니다. 공정 데이터를 올리면 시험 결과와 자동으로 짝지어집니다. 대시보드에서는 전체 평균과 합격 현황이 한눈에 보입니다. 공정 조건을 바꿔 입력하면 포화도와 용량이 바로 다시 계산되고, 합격선과 비교한 결과가 나옵니다.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33008" y="1664208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34176" y="1847088"/>
            <a:ext cx="500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2/2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434176" y="2103120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끝부분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34176" y="2724912"/>
            <a:ext cx="50077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불합격이 예상되면 어떤 조건의 영향이 큰지 순서대로 보여줘서, 무엇을 고쳐야 하는지 바로 알 수 있습니다.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실제 웹앱 녹화(업로드·대시보드·조건 변경 예측)</a:t>
            </a:r>
            <a:endParaRPr lang="en-US" sz="12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5-2. 추가 기능 소개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미리보기 · 한 번에 분석 · 신뢰도 · 원인 조건까지 실제 화면으로 확인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1/3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앞부분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추가로 기능을 소개해 드리겠습니다. 파일을 고르면 저장하기 전에 미리보기로 먼저 확인합니다.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38218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39386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2/3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39386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39386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분석은 버튼 한 번이면 끝나고, 예측이 믿을 만한지도 신뢰 기준과 비교해 바로 알려 줍니다. 상세 화면에서는 포화도, 20시간 용량, 저온 시동 성능의 합격 현황을 한눈에 보고,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27797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328965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3/3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328965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끝부분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8965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기준에 못 미친 제품은 원인이 되는 조건 세 가지까지 바로 짚어 줍니다. 형명별, 바이어별로 좁혀 보는 것도 클릭 한 번입니다.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실제 웹앱 녹화(업로드 미리보기 · 분석 실행 · 상세 분석 · 미달 원인 · 형명별)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10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6. 시험 없이 나머지 로트까지 (확장 예측)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시험을 여러 번 돌리지 않아도 전체 로트의 결과를 한 번에 확인한다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500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1/2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앞부분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50077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그리고 이것이 가장 큰 장점입니다. 성능 시험을 마친 제품으로 학습해서, 아직 시험하지 않은 나머지 로트의 20시간 용량까지 미리 예측합니다.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33008" y="1664208"/>
            <a:ext cx="541004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34176" y="1847088"/>
            <a:ext cx="50077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 · 2/2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434176" y="2103120"/>
            <a:ext cx="50077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끝부분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34176" y="2724912"/>
            <a:ext cx="500771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그래서 시험을 여러 번 돌리지 않아도, 공정 데이터만 올리면 전체 로트의 결과를 한 번에 확인할 수 있습니다.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300건 학습 → 4,692건 예측 도식 + 시험 전 로트 일괄 예측 화면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7. 정리: 얻는 것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기다리지 않고 만들 때 알 수 있다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11094415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1069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영상 나레이션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10692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얻는 것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10692000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정리하면, 데이터만 올리면 합격 여부를 미리 알고, 시험하지 않은 로트까지 한 번에 확인하고, 고칠 조건까지 바로 알 수 있습니다.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얻는 것 3가지 카드 (마지막 장면)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8. 앞으로의 변화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시험 후에 대응하는 품질에서, 만들 때 미리 막는 품질로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52450" y="1666875"/>
            <a:ext cx="5410200" cy="3248025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52475" y="1847850"/>
            <a:ext cx="50101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· 1/2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52475" y="2105025"/>
            <a:ext cx="5010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52475" y="2724150"/>
            <a:ext cx="5010150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 실제 데이터로 다시 검증하고, 시험 결과가 쌓일 때마다 다시 배우게 하겠습니다.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6229350" y="1666875"/>
            <a:ext cx="5410200" cy="3248025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6438900" y="1847850"/>
            <a:ext cx="501015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직접 발표 · 2/2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6438900" y="2105025"/>
            <a:ext cx="501015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마무리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38900" y="2724150"/>
            <a:ext cx="5010150" cy="2038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'시험 후에 대응하는 품질'에서 '만들 때 미리 막는 품질'로 바꾸겠습니다. 감사합니다.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화면 — 마무리 카드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13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숫자 근거 (질문 대비)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모든 수치는 더미 데이터 기준이며, 학습에 쓰지 않은 표본으로 채점했다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27632"/>
            <a:ext cx="3515258" cy="1481328"/>
          </a:xfrm>
          <a:prstGeom prst="roundRect">
            <a:avLst>
              <a:gd name="adj" fmla="val 4938"/>
            </a:avLst>
          </a:prstGeom>
          <a:solidFill>
            <a:srgbClr val="F6F6F5"/>
          </a:solidFill>
          <a:ln w="12700">
            <a:solidFill>
              <a:srgbClr val="F6F6F5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77240" y="17556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신뢰 기준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777240" y="202996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합격/불합격 일치율</a:t>
            </a:r>
            <a:endParaRPr lang="en-US" sz="1150" dirty="0"/>
          </a:p>
        </p:txBody>
      </p:sp>
      <p:sp>
        <p:nvSpPr>
          <p:cNvPr id="11" name="Text 8"/>
          <p:cNvSpPr txBox="1"/>
          <p:nvPr/>
        </p:nvSpPr>
        <p:spPr>
          <a:xfrm>
            <a:off x="777240" y="2340864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90% 이상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4338218" y="1627632"/>
            <a:ext cx="3515258" cy="1481328"/>
          </a:xfrm>
          <a:prstGeom prst="roundRect">
            <a:avLst>
              <a:gd name="adj" fmla="val 4938"/>
            </a:avLst>
          </a:prstGeom>
          <a:solidFill>
            <a:srgbClr val="F6F6F5"/>
          </a:solidFill>
          <a:ln w="12700">
            <a:solidFill>
              <a:srgbClr val="F6F6F5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66818" y="17556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학습 / 검증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4566818" y="202996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포화도·용량</a:t>
            </a:r>
            <a:endParaRPr lang="en-US" sz="1150" dirty="0"/>
          </a:p>
        </p:txBody>
      </p:sp>
      <p:sp>
        <p:nvSpPr>
          <p:cNvPr id="15" name="Text 12"/>
          <p:cNvSpPr txBox="1"/>
          <p:nvPr/>
        </p:nvSpPr>
        <p:spPr>
          <a:xfrm>
            <a:off x="4566818" y="2340864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240건 / 60건</a:t>
            </a:r>
            <a:endParaRPr lang="en-US" sz="2400" dirty="0"/>
          </a:p>
        </p:txBody>
      </p:sp>
      <p:sp>
        <p:nvSpPr>
          <p:cNvPr id="16" name="Shape 13"/>
          <p:cNvSpPr/>
          <p:nvPr/>
        </p:nvSpPr>
        <p:spPr>
          <a:xfrm>
            <a:off x="8127797" y="1627632"/>
            <a:ext cx="3515258" cy="1481328"/>
          </a:xfrm>
          <a:prstGeom prst="roundRect">
            <a:avLst>
              <a:gd name="adj" fmla="val 4938"/>
            </a:avLst>
          </a:prstGeom>
          <a:solidFill>
            <a:srgbClr val="F6F6F5"/>
          </a:solidFill>
          <a:ln w="12700">
            <a:solidFill>
              <a:srgbClr val="F6F6F5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356397" y="1755648"/>
            <a:ext cx="305805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8356397" y="2029968"/>
            <a:ext cx="30580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공정 4,992행 · 시험 300건</a:t>
            </a:r>
            <a:endParaRPr lang="en-US" sz="1150" dirty="0"/>
          </a:p>
        </p:txBody>
      </p:sp>
      <p:sp>
        <p:nvSpPr>
          <p:cNvPr id="19" name="Text 16"/>
          <p:cNvSpPr txBox="1"/>
          <p:nvPr/>
        </p:nvSpPr>
        <p:spPr>
          <a:xfrm>
            <a:off x="8356397" y="2340864"/>
            <a:ext cx="305805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더미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548640" y="321868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항목별 채점 결과</a:t>
            </a:r>
            <a:endParaRPr lang="en-US" sz="1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11296"/>
          <a:ext cx="11094415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2377440"/>
                <a:gridCol w="2377440"/>
                <a:gridCol w="237744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777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777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맞힌 건수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777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일치율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717779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기준(90%)</a:t>
                      </a:r>
                      <a:endParaRPr lang="en-US" sz="105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6F6F5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포화도 (Y)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57 / 60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95.0%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20시간 용량 (Z)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52 / 60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86.7%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미달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저온 시동 · 유럽 규격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27 / 30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90.0%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저온 시동 · 미국 규격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28 / 30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93.3%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333F48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통과</a:t>
                      </a:r>
                      <a:endParaRPr lang="en-US" sz="10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76200" marR="76200" marT="50800" marB="50800" anchor="ctr">
                    <a:lnL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0C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2" name="Shape 18"/>
          <p:cNvSpPr/>
          <p:nvPr/>
        </p:nvSpPr>
        <p:spPr>
          <a:xfrm>
            <a:off x="548640" y="5468112"/>
            <a:ext cx="11094415" cy="402336"/>
          </a:xfrm>
          <a:prstGeom prst="roundRect">
            <a:avLst>
              <a:gd name="adj" fmla="val 18182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23" name="Text 19"/>
          <p:cNvSpPr txBox="1"/>
          <p:nvPr/>
        </p:nvSpPr>
        <p:spPr>
          <a:xfrm>
            <a:off x="822960" y="5468112"/>
            <a:ext cx="10545775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주의 — 검증 표본이 60건이라 실제 현장에서 같은 수치가 나온다고 단정할 수 없다</a:t>
            </a:r>
            <a:endParaRPr lang="en-US" sz="11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질문과 답변 1/2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물어보면 한계까지 솔직하게 답한다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Q1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95%가 전체 점수인가요?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포화도 기준입니다. 20시간 용량은 86.7%로 아직 기준 미달이며, 개선 항목으로 공개했습니다.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38218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39386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Q2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39386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입력 데이터는 어디서 오나요?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39386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SPC에 입력되어 관리되는 공정 데이터를 사용합니다. SPC에서 바로 내려받을 수 없는 항목은 별도 수집 방법을 정해야 하며, 적용 전 확인 사항입니다.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27797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328965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Q3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328965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실제 데이터에서도 95%인가요?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8965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지금은 연습용 가상 데이터입니다. 실제 현장 데이터를 쌓아 같은 방식으로 다시 검증하겠습니다.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것은 '아직 확인하지 못했다'고 답한다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/>
      <p:pic>
        <p:nvPicPr>
          <p:cNvPr id="2" name="Image 0" descr="/Users/junny_macbook/.claude/skills/sebang-deck/assets/sebang_wordmark_dar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92608"/>
            <a:ext cx="868680" cy="185801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572768" y="25603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· 임원 보고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548640" y="64008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창원품질경영팀 김경준 주임  ·  AI 포화도 예측  ·  발표 대본</a:t>
            </a:r>
            <a:endParaRPr lang="en-US" sz="900" dirty="0"/>
          </a:p>
        </p:txBody>
      </p:sp>
      <p:sp>
        <p:nvSpPr>
          <p:cNvPr id="5" name="Text 2"/>
          <p:cNvSpPr txBox="1"/>
          <p:nvPr/>
        </p:nvSpPr>
        <p:spPr>
          <a:xfrm>
            <a:off x="10545775" y="6400800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17779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15 / 15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658368"/>
            <a:ext cx="11094415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예상 질문과 답변 2/2 — 부족한 점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152144"/>
            <a:ext cx="11094415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발표에서는 앞세우지 않고, 질문이 나오면 숫자로 정확히 답한다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 txBox="1"/>
          <p:nvPr/>
        </p:nvSpPr>
        <p:spPr>
          <a:xfrm>
            <a:off x="749808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Q4</a:t>
            </a:r>
            <a:endParaRPr lang="en-US" sz="950" dirty="0"/>
          </a:p>
        </p:txBody>
      </p:sp>
      <p:sp>
        <p:nvSpPr>
          <p:cNvPr id="10" name="Text 7"/>
          <p:cNvSpPr txBox="1"/>
          <p:nvPr/>
        </p:nvSpPr>
        <p:spPr>
          <a:xfrm>
            <a:off x="749808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부족한 점은 무엇인가요?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20시간 용량의 일치율이 86.7%(52/60)로 신뢰 기준 90%에 못 미쳤습니다. 포화도 95%, 저온 시동 성능 90%·93%는 기준을 넘었습니다.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38218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3" name="Text 10"/>
          <p:cNvSpPr txBox="1"/>
          <p:nvPr/>
        </p:nvSpPr>
        <p:spPr>
          <a:xfrm>
            <a:off x="4539386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Q5</a:t>
            </a:r>
            <a:endParaRPr lang="en-US" sz="950" dirty="0"/>
          </a:p>
        </p:txBody>
      </p:sp>
      <p:sp>
        <p:nvSpPr>
          <p:cNvPr id="14" name="Text 11"/>
          <p:cNvSpPr txBox="1"/>
          <p:nvPr/>
        </p:nvSpPr>
        <p:spPr>
          <a:xfrm>
            <a:off x="4539386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이 수치를 믿어도 되나요?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4539386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연습용 가상 데이터이고 채점에 쓴 표본이 60건이라, 현장에서 같은 수치가 나온다고 단정할 수 없습니다. 실제 데이터로 같은 방식으로 다시 검증하겠습니다.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8127797" y="1664208"/>
            <a:ext cx="3515258" cy="3246120"/>
          </a:xfrm>
          <a:prstGeom prst="roundRect">
            <a:avLst>
              <a:gd name="adj" fmla="val 2254"/>
            </a:avLst>
          </a:prstGeom>
          <a:solidFill>
            <a:srgbClr val="FFFFFF"/>
          </a:solidFill>
          <a:ln w="9525">
            <a:solidFill>
              <a:srgbClr val="D0D0CE"/>
            </a:solidFill>
            <a:prstDash val="solid"/>
          </a:ln>
        </p:spPr>
        <p:txBody>
          <a:bodyPr/>
          <a:p/>
        </p:txBody>
      </p:sp>
      <p:sp>
        <p:nvSpPr>
          <p:cNvPr id="17" name="Text 14"/>
          <p:cNvSpPr txBox="1"/>
          <p:nvPr/>
        </p:nvSpPr>
        <p:spPr>
          <a:xfrm>
            <a:off x="8328965" y="1847088"/>
            <a:ext cx="311292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006A7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Q6</a:t>
            </a:r>
            <a:endParaRPr lang="en-US" sz="950" dirty="0"/>
          </a:p>
        </p:txBody>
      </p:sp>
      <p:sp>
        <p:nvSpPr>
          <p:cNvPr id="18" name="Text 15"/>
          <p:cNvSpPr txBox="1"/>
          <p:nvPr/>
        </p:nvSpPr>
        <p:spPr>
          <a:xfrm>
            <a:off x="8328965" y="2103120"/>
            <a:ext cx="311292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앞으로 어떻게 개선하나요?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8328965" y="2724912"/>
            <a:ext cx="3112922" cy="2039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spcAft>
                <a:spcPts val="400"/>
              </a:spcAft>
              <a:buNone/>
            </a:pPr>
            <a:r>
              <a:rPr lang="en-US" sz="1150" dirty="0">
                <a:solidFill>
                  <a:srgbClr val="333F4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1) 실제 현장 데이터로 재검증 2) 시험 결과가 쌓일 때마다 다시 학습 3) 20시간 용량 일치율을 90% 이상으로 높이기</a:t>
            </a:r>
            <a:endParaRPr lang="en-US" sz="1150" dirty="0"/>
          </a:p>
        </p:txBody>
      </p:sp>
      <p:sp>
        <p:nvSpPr>
          <p:cNvPr id="20" name="Shape 17"/>
          <p:cNvSpPr/>
          <p:nvPr/>
        </p:nvSpPr>
        <p:spPr>
          <a:xfrm>
            <a:off x="548640" y="513892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333F48"/>
          </a:solidFill>
          <a:ln w="12700">
            <a:solidFill>
              <a:srgbClr val="333F48"/>
            </a:solidFill>
            <a:prstDash val="solid"/>
          </a:ln>
        </p:spPr>
        <p:txBody>
          <a:bodyPr/>
          <a:p/>
        </p:txBody>
      </p:sp>
      <p:sp>
        <p:nvSpPr>
          <p:cNvPr id="21" name="Text 18"/>
          <p:cNvSpPr txBox="1"/>
          <p:nvPr/>
        </p:nvSpPr>
        <p:spPr>
          <a:xfrm>
            <a:off x="822960" y="5138928"/>
            <a:ext cx="1054577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모르는 것은 '아직 확인하지 못했다'고 답한다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임원 보고 발표 대본</dc:title>
  <dc:subject>PptxGenJS Presentation</dc:subject>
  <dc:creator>PptxGenJS</dc:creator>
  <cp:lastModifiedBy>PptxGenJS</cp:lastModifiedBy>
  <cp:revision>1</cp:revision>
  <dcterms:created xsi:type="dcterms:W3CDTF">2026-10-16T08:51:15Z</dcterms:created>
  <dcterms:modified xsi:type="dcterms:W3CDTF">2026-10-16T08:51:15Z</dcterms:modified>
</cp:coreProperties>
</file>